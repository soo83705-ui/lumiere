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a8dda1b9e24e5e" /><Relationship Type="http://schemas.openxmlformats.org/officeDocument/2006/relationships/extended-properties" Target="/docProps/app.xml" Id="Re64e9d2ec4474c02" /><Relationship Type="http://schemas.openxmlformats.org/officeDocument/2006/relationships/officeDocument" Target="/ppt/presentation.xml" Id="R8495d100dae84a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355386eaed4c99"/>
  </p:sldMasterIdLst>
  <p:notesMasterIdLst>
    <p:notesMasterId xmlns:r="http://schemas.openxmlformats.org/officeDocument/2006/relationships" r:id="R4ad6473adf82412a"/>
  </p:notesMasterIdLst>
  <p:sldIdLst>
    <p:sldId xmlns:r="http://schemas.openxmlformats.org/officeDocument/2006/relationships" id="256" r:id="R3ecbc210020842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3719ca929e41cf" /><Relationship Type="http://schemas.openxmlformats.org/officeDocument/2006/relationships/slideMaster" Target="/ppt/slideMasters/slideMaster1.xml" Id="R58355386eaed4c99" /><Relationship Type="http://schemas.openxmlformats.org/officeDocument/2006/relationships/notesMaster" Target="/ppt/notesMasters/notesMaster1.xml" Id="R4ad6473adf82412a" /><Relationship Type="http://schemas.openxmlformats.org/officeDocument/2006/relationships/presProps" Target="/ppt/presProps.xml" Id="Rdc7646aee6804f61" /><Relationship Type="http://schemas.openxmlformats.org/officeDocument/2006/relationships/tableStyles" Target="/ppt/tableStyles.xml" Id="Rd004e64953744655" /><Relationship Type="http://schemas.openxmlformats.org/officeDocument/2006/relationships/slide" Target="/ppt/slides/slide1.xml" Id="R3ecbc210020842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e4810b4ae54d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7a966c82664f6b" /><Relationship Type="http://schemas.openxmlformats.org/officeDocument/2006/relationships/notesMaster" Target="/ppt/notesMasters/notesMaster1.xml" Id="Rd9ae0122dc69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d80e1e8174d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c9938d1a35431c" /><Relationship Type="http://schemas.openxmlformats.org/officeDocument/2006/relationships/slideLayout" Target="/ppt/slideLayouts/slideLayout1.xml" Id="R2965216e5dfa43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65216e5dfa43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6f734cf874a47" /><Relationship Type="http://schemas.openxmlformats.org/officeDocument/2006/relationships/notesSlide" Target="/ppt/notesSlides/notesSlide1.xml" Id="R087457dfd6e94c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arm-backdrop">
            <a:extLst xmlns:a="http://schemas.openxmlformats.org/drawingml/2006/main">
              <a:ext uri="{FF2B5EF4-FFF2-40B4-BE49-F238E27FC236}">
                <a16:creationId xmlns:a16="http://schemas.microsoft.com/office/drawing/2014/main" id="{EA9F5095-4A3D-4106-8EAF-42651E33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11506200" cy="6210300"/>
          </a:xfrm>
          <a:prstGeom xmlns:a="http://schemas.openxmlformats.org/drawingml/2006/main" prst="roundRect">
            <a:avLst>
              <a:gd name="adj" fmla="val 3988"/>
            </a:avLst>
          </a:prstGeom>
          <a:solidFill xmlns:a="http://schemas.openxmlformats.org/drawingml/2006/main">
            <a:srgbClr val="FFFAF4"/>
          </a:solidFill>
          <a:ln xmlns:a="http://schemas.openxmlformats.org/drawingml/2006/main" w="9525">
            <a:solidFill>
              <a:srgbClr val="EADFD4"/>
            </a:solidFill>
            <a:prstDash val="solid"/>
          </a:ln>
        </p:spPr>
      </p:sp>
      <p:sp>
        <p:nvSpPr>
          <p:cNvPr id="2" name="soft-coral-wash">
            <a:extLst xmlns:a="http://schemas.openxmlformats.org/drawingml/2006/main">
              <a:ext uri="{FF2B5EF4-FFF2-40B4-BE49-F238E27FC236}">
                <a16:creationId xmlns:a16="http://schemas.microsoft.com/office/drawing/2014/main" id="{EE97115C-12D2-4C0A-830F-9EE7D17D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3820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oft-mint-wash">
            <a:extLst xmlns:a="http://schemas.openxmlformats.org/drawingml/2006/main">
              <a:ext uri="{FF2B5EF4-FFF2-40B4-BE49-F238E27FC236}">
                <a16:creationId xmlns:a16="http://schemas.microsoft.com/office/drawing/2014/main" id="{18D49AF5-8A71-49DC-B908-AE1BAD31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8781F790-7F65-4BAB-AEA0-58ABE066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2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mark-inner">
            <a:extLst xmlns:a="http://schemas.openxmlformats.org/drawingml/2006/main">
              <a:ext uri="{FF2B5EF4-FFF2-40B4-BE49-F238E27FC236}">
                <a16:creationId xmlns:a16="http://schemas.microsoft.com/office/drawing/2014/main" id="{B7869D13-5047-4C7F-9CF6-B9C21426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1ABD9257-27D1-4709-9BB8-7CAC93B1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25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rPr>
              <a:t>03. AI 기능</a:t>
            </a:r>
          </a:p>
        </p:txBody>
      </p:sp>
      <p:sp>
        <p:nvSpPr>
          <p:cNvPr id="7" name="brand-label">
            <a:extLst xmlns:a="http://schemas.openxmlformats.org/drawingml/2006/main">
              <a:ext uri="{FF2B5EF4-FFF2-40B4-BE49-F238E27FC236}">
                <a16:creationId xmlns:a16="http://schemas.microsoft.com/office/drawing/2014/main" id="{72A47640-08FC-45EC-90F1-1A98831A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13">
                <a:solidFill>
                  <a:srgbClr val="151211"/>
                </a:solidFill>
                <a:latin typeface="Georgia"/>
                <a:ea typeface="Georgia"/>
                <a:cs typeface="Georgia"/>
              </a:defRPr>
            </a:pPr>
            <a:r>
              <a:rPr sz="1013">
                <a:solidFill>
                  <a:srgbClr val="151211"/>
                </a:solidFill>
                <a:latin typeface="Georgia"/>
                <a:ea typeface="Georgia"/>
                <a:cs typeface="Georgia"/>
              </a:rPr>
              <a:t>lumiere Brand Proposal</a:t>
            </a:r>
          </a:p>
        </p:txBody>
      </p:sp>
      <p:sp>
        <p:nvSpPr>
          <p:cNvPr id="8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1185E71-A293-4945-A622-F2A1672C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41F1D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240B0F44-E512-4971-BD58-C4E7799E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>
                <a:solidFill>
                  <a:srgbClr val="08A8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8A8B1"/>
                </a:solidFill>
                <a:latin typeface="Apple SD Gothic Neo"/>
                <a:ea typeface="Apple SD Gothic Neo"/>
                <a:cs typeface="Apple SD Gothic Neo"/>
              </a:rPr>
              <a:t>AI 활용 구조</a:t>
            </a:r>
          </a:p>
        </p:txBody>
      </p:sp>
      <p:sp>
        <p:nvSpPr>
          <p:cNvPr id="10" name="main-title">
            <a:extLst xmlns:a="http://schemas.openxmlformats.org/drawingml/2006/main">
              <a:ext uri="{FF2B5EF4-FFF2-40B4-BE49-F238E27FC236}">
                <a16:creationId xmlns:a16="http://schemas.microsoft.com/office/drawing/2014/main" id="{8E9E0BE4-E149-40F0-A591-8A6D7476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rPr>
              <a:t>진단에서 추천까지 이어지는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rPr>
              <a:t>퍼스널 컬러 AI</a:t>
            </a:r>
          </a:p>
        </p:txBody>
      </p:sp>
      <p:sp>
        <p:nvSpPr>
          <p:cNvPr id="11" name="main-summary">
            <a:extLst xmlns:a="http://schemas.openxmlformats.org/drawingml/2006/main">
              <a:ext uri="{FF2B5EF4-FFF2-40B4-BE49-F238E27FC236}">
                <a16:creationId xmlns:a16="http://schemas.microsoft.com/office/drawing/2014/main" id="{EB4AC17D-F990-4D34-A1F7-2EA9C494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9540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>
                <a:solidFill>
                  <a:srgbClr val="4B4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4B403D"/>
                </a:solidFill>
                <a:latin typeface="Apple SD Gothic Neo"/>
                <a:ea typeface="Apple SD Gothic Neo"/>
                <a:cs typeface="Apple SD Gothic Neo"/>
              </a:rPr>
              <a:t>사용자 얼굴 분석, 상품 URL 분석, 커뮤니티 행동 데이터를 하나의 추천 흐름으로 연결합니다.</a:t>
            </a:r>
          </a:p>
        </p:txBody>
      </p:sp>
      <p:sp>
        <p:nvSpPr>
          <p:cNvPr id="12" name="stage-bg-0">
            <a:extLst xmlns:a="http://schemas.openxmlformats.org/drawingml/2006/main">
              <a:ext uri="{FF2B5EF4-FFF2-40B4-BE49-F238E27FC236}">
                <a16:creationId xmlns:a16="http://schemas.microsoft.com/office/drawing/2014/main" id="{E81378DB-DACC-446E-8CFA-1D42378A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21945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EEFBFB"/>
          </a:solidFill>
          <a:ln xmlns:a="http://schemas.openxmlformats.org/drawingml/2006/main" w="11430">
            <a:solidFill>
              <a:srgbClr val="9EDF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tage-accent-0">
            <a:extLst xmlns:a="http://schemas.openxmlformats.org/drawingml/2006/main">
              <a:ext uri="{FF2B5EF4-FFF2-40B4-BE49-F238E27FC236}">
                <a16:creationId xmlns:a16="http://schemas.microsoft.com/office/drawing/2014/main" id="{7C99CBC7-926A-4FEC-97A9-5CC75933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8C4"/>
          </a:solidFill>
          <a:ln xmlns:a="http://schemas.openxmlformats.org/drawingml/2006/main" w="0">
            <a:solidFill>
              <a:srgbClr val="10B8C4"/>
            </a:solidFill>
            <a:prstDash val="solid"/>
          </a:ln>
        </p:spPr>
      </p:sp>
      <p:sp>
        <p:nvSpPr>
          <p:cNvPr id="14" name="stage-number-circle-0">
            <a:extLst xmlns:a="http://schemas.openxmlformats.org/drawingml/2006/main">
              <a:ext uri="{FF2B5EF4-FFF2-40B4-BE49-F238E27FC236}">
                <a16:creationId xmlns:a16="http://schemas.microsoft.com/office/drawing/2014/main" id="{4856C499-13D6-40BB-83B7-D04907E3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number-0">
            <a:extLst xmlns:a="http://schemas.openxmlformats.org/drawingml/2006/main">
              <a:ext uri="{FF2B5EF4-FFF2-40B4-BE49-F238E27FC236}">
                <a16:creationId xmlns:a16="http://schemas.microsoft.com/office/drawing/2014/main" id="{75A9048D-0260-42BC-83A5-71697347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D75B0573-1248-4BD1-91C6-93906289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rPr>
              <a:t>퍼스널 컬러 진단 AI</a:t>
            </a:r>
          </a:p>
        </p:txBody>
      </p:sp>
      <p:sp>
        <p:nvSpPr>
          <p:cNvPr id="17" name="stage-role-pill-0">
            <a:extLst xmlns:a="http://schemas.openxmlformats.org/drawingml/2006/main">
              <a:ext uri="{FF2B5EF4-FFF2-40B4-BE49-F238E27FC236}">
                <a16:creationId xmlns:a16="http://schemas.microsoft.com/office/drawing/2014/main" id="{DC18931A-11A8-4131-93A0-751022C3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52725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DFE4"/>
            </a:solidFill>
            <a:prstDash val="solid"/>
          </a:ln>
        </p:spPr>
      </p:sp>
      <p:sp>
        <p:nvSpPr>
          <p:cNvPr id="18" name="stage-role-0">
            <a:extLst xmlns:a="http://schemas.openxmlformats.org/drawingml/2006/main">
              <a:ext uri="{FF2B5EF4-FFF2-40B4-BE49-F238E27FC236}">
                <a16:creationId xmlns:a16="http://schemas.microsoft.com/office/drawing/2014/main" id="{4399A885-396A-4F69-B160-CD3DE89C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38" b="1">
                <a:solidFill>
                  <a:srgbClr val="0079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7982"/>
                </a:solidFill>
                <a:latin typeface="Apple SD Gothic Neo"/>
                <a:ea typeface="Apple SD Gothic Neo"/>
                <a:cs typeface="Apple SD Gothic Neo"/>
              </a:rPr>
              <a:t>사용자 분석</a:t>
            </a:r>
          </a:p>
        </p:txBody>
      </p:sp>
      <p:sp>
        <p:nvSpPr>
          <p:cNvPr id="19" name="stage-feature-label-0">
            <a:extLst xmlns:a="http://schemas.openxmlformats.org/drawingml/2006/main">
              <a:ext uri="{FF2B5EF4-FFF2-40B4-BE49-F238E27FC236}">
                <a16:creationId xmlns:a16="http://schemas.microsoft.com/office/drawing/2014/main" id="{EE24DB73-3F33-42BD-988F-87E30D0D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 b="1">
                <a:solidFill>
                  <a:srgbClr val="0079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07982"/>
                </a:solidFill>
                <a:latin typeface="Apple SD Gothic Neo"/>
                <a:ea typeface="Apple SD Gothic Neo"/>
                <a:cs typeface="Apple SD Gothic Neo"/>
              </a:rPr>
              <a:t>핵심 기능</a:t>
            </a:r>
          </a:p>
        </p:txBody>
      </p:sp>
      <p:sp>
        <p:nvSpPr>
          <p:cNvPr id="20" name="bullet-dot-368">
            <a:extLst xmlns:a="http://schemas.openxmlformats.org/drawingml/2006/main">
              <a:ext uri="{FF2B5EF4-FFF2-40B4-BE49-F238E27FC236}">
                <a16:creationId xmlns:a16="http://schemas.microsoft.com/office/drawing/2014/main" id="{0632DE3A-89BA-43FA-AE7F-D0039929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text-368">
            <a:extLst xmlns:a="http://schemas.openxmlformats.org/drawingml/2006/main">
              <a:ext uri="{FF2B5EF4-FFF2-40B4-BE49-F238E27FC236}">
                <a16:creationId xmlns:a16="http://schemas.microsoft.com/office/drawing/2014/main" id="{42476564-FE63-43D4-AC00-4520C72E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rPr>
              <a:t>얼굴 사진 기반 피부톤·명도·채도 분석</a:t>
            </a:r>
          </a:p>
        </p:txBody>
      </p:sp>
      <p:sp>
        <p:nvSpPr>
          <p:cNvPr id="22" name="bullet-dot-401">
            <a:extLst xmlns:a="http://schemas.openxmlformats.org/drawingml/2006/main">
              <a:ext uri="{FF2B5EF4-FFF2-40B4-BE49-F238E27FC236}">
                <a16:creationId xmlns:a16="http://schemas.microsoft.com/office/drawing/2014/main" id="{4A15B71B-15C4-406E-8C08-D81C4524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text-401">
            <a:extLst xmlns:a="http://schemas.openxmlformats.org/drawingml/2006/main">
              <a:ext uri="{FF2B5EF4-FFF2-40B4-BE49-F238E27FC236}">
                <a16:creationId xmlns:a16="http://schemas.microsoft.com/office/drawing/2014/main" id="{AE8336EE-D86D-4398-90C1-DB74E591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rPr>
              <a:t>퍼스널 컬러 진단 및 결과 안정화</a:t>
            </a:r>
          </a:p>
        </p:txBody>
      </p:sp>
      <p:sp>
        <p:nvSpPr>
          <p:cNvPr id="24" name="bullet-dot-434">
            <a:extLst xmlns:a="http://schemas.openxmlformats.org/drawingml/2006/main">
              <a:ext uri="{FF2B5EF4-FFF2-40B4-BE49-F238E27FC236}">
                <a16:creationId xmlns:a16="http://schemas.microsoft.com/office/drawing/2014/main" id="{6A642DCE-A1BA-4115-8108-DCF45830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text-434">
            <a:extLst xmlns:a="http://schemas.openxmlformats.org/drawingml/2006/main">
              <a:ext uri="{FF2B5EF4-FFF2-40B4-BE49-F238E27FC236}">
                <a16:creationId xmlns:a16="http://schemas.microsoft.com/office/drawing/2014/main" id="{5882C4E8-5C14-432D-8A22-60A6802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rPr>
              <a:t>진단 결과에 맞춘 메이크업 예측 이미지</a:t>
            </a:r>
          </a:p>
        </p:txBody>
      </p:sp>
      <p:sp>
        <p:nvSpPr>
          <p:cNvPr id="26" name="stage-bg-1">
            <a:extLst xmlns:a="http://schemas.openxmlformats.org/drawingml/2006/main">
              <a:ext uri="{FF2B5EF4-FFF2-40B4-BE49-F238E27FC236}">
                <a16:creationId xmlns:a16="http://schemas.microsoft.com/office/drawing/2014/main" id="{414DE9E7-FCBB-40E4-AD3D-6A0EB3C0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52650"/>
            <a:ext cx="321945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2EE"/>
          </a:solidFill>
          <a:ln xmlns:a="http://schemas.openxmlformats.org/drawingml/2006/main" w="11430">
            <a:solidFill>
              <a:srgbClr val="F3B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tage-accent-1">
            <a:extLst xmlns:a="http://schemas.openxmlformats.org/drawingml/2006/main">
              <a:ext uri="{FF2B5EF4-FFF2-40B4-BE49-F238E27FC236}">
                <a16:creationId xmlns:a16="http://schemas.microsoft.com/office/drawing/2014/main" id="{B2BC998E-7D35-464F-AF63-18FEAF97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5265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4"/>
          </a:solidFill>
          <a:ln xmlns:a="http://schemas.openxmlformats.org/drawingml/2006/main" w="0">
            <a:solidFill>
              <a:srgbClr val="EF7764"/>
            </a:solidFill>
            <a:prstDash val="solid"/>
          </a:ln>
        </p:spPr>
      </p:sp>
      <p:sp>
        <p:nvSpPr>
          <p:cNvPr id="28" name="stage-number-circle-1">
            <a:extLst xmlns:a="http://schemas.openxmlformats.org/drawingml/2006/main">
              <a:ext uri="{FF2B5EF4-FFF2-40B4-BE49-F238E27FC236}">
                <a16:creationId xmlns:a16="http://schemas.microsoft.com/office/drawing/2014/main" id="{09407228-C33C-4442-9575-7E8151BB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7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CCD063D3-9490-459D-A511-E165C813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EF89596F-99D0-48DB-82FE-9B1E27F4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431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rPr>
              <a:t>제품 분석 AI</a:t>
            </a:r>
          </a:p>
        </p:txBody>
      </p:sp>
      <p:sp>
        <p:nvSpPr>
          <p:cNvPr id="31" name="stage-role-pill-1">
            <a:extLst xmlns:a="http://schemas.openxmlformats.org/drawingml/2006/main">
              <a:ext uri="{FF2B5EF4-FFF2-40B4-BE49-F238E27FC236}">
                <a16:creationId xmlns:a16="http://schemas.microsoft.com/office/drawing/2014/main" id="{6F36E95F-17D7-4AF8-AC7F-E1337255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52725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B2A8"/>
            </a:solidFill>
            <a:prstDash val="solid"/>
          </a:ln>
        </p:spPr>
      </p:sp>
      <p:sp>
        <p:nvSpPr>
          <p:cNvPr id="32" name="stage-role-1">
            <a:extLst xmlns:a="http://schemas.openxmlformats.org/drawingml/2006/main">
              <a:ext uri="{FF2B5EF4-FFF2-40B4-BE49-F238E27FC236}">
                <a16:creationId xmlns:a16="http://schemas.microsoft.com/office/drawing/2014/main" id="{9F5F0952-896D-4481-A9CD-20A4F1C2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38" b="1">
                <a:solidFill>
                  <a:srgbClr val="B843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B84334"/>
                </a:solidFill>
                <a:latin typeface="Apple SD Gothic Neo"/>
                <a:ea typeface="Apple SD Gothic Neo"/>
                <a:cs typeface="Apple SD Gothic Neo"/>
              </a:rPr>
              <a:t>상품 분석</a:t>
            </a:r>
          </a:p>
        </p:txBody>
      </p:sp>
      <p:sp>
        <p:nvSpPr>
          <p:cNvPr id="33" name="stage-feature-label-1">
            <a:extLst xmlns:a="http://schemas.openxmlformats.org/drawingml/2006/main">
              <a:ext uri="{FF2B5EF4-FFF2-40B4-BE49-F238E27FC236}">
                <a16:creationId xmlns:a16="http://schemas.microsoft.com/office/drawing/2014/main" id="{A6476903-E495-4883-BD25-DBBEF78E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099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 b="1">
                <a:solidFill>
                  <a:srgbClr val="B843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84334"/>
                </a:solidFill>
                <a:latin typeface="Apple SD Gothic Neo"/>
                <a:ea typeface="Apple SD Gothic Neo"/>
                <a:cs typeface="Apple SD Gothic Neo"/>
              </a:rPr>
              <a:t>핵심 기능</a:t>
            </a:r>
          </a:p>
        </p:txBody>
      </p:sp>
      <p:sp>
        <p:nvSpPr>
          <p:cNvPr id="34" name="bullet-dot-368">
            <a:extLst xmlns:a="http://schemas.openxmlformats.org/drawingml/2006/main">
              <a:ext uri="{FF2B5EF4-FFF2-40B4-BE49-F238E27FC236}">
                <a16:creationId xmlns:a16="http://schemas.microsoft.com/office/drawing/2014/main" id="{F2351131-DC40-450A-850A-B931CEB4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ullet-text-368">
            <a:extLst xmlns:a="http://schemas.openxmlformats.org/drawingml/2006/main">
              <a:ext uri="{FF2B5EF4-FFF2-40B4-BE49-F238E27FC236}">
                <a16:creationId xmlns:a16="http://schemas.microsoft.com/office/drawing/2014/main" id="{F654B7BE-329A-468F-9056-4B6C4A8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rPr>
              <a:t>외부 상품 URL 분석</a:t>
            </a:r>
          </a:p>
        </p:txBody>
      </p:sp>
      <p:sp>
        <p:nvSpPr>
          <p:cNvPr id="36" name="bullet-dot-401">
            <a:extLst xmlns:a="http://schemas.openxmlformats.org/drawingml/2006/main">
              <a:ext uri="{FF2B5EF4-FFF2-40B4-BE49-F238E27FC236}">
                <a16:creationId xmlns:a16="http://schemas.microsoft.com/office/drawing/2014/main" id="{FEDB90A2-9D5B-40AB-82E3-54E2271C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ullet-text-401">
            <a:extLst xmlns:a="http://schemas.openxmlformats.org/drawingml/2006/main">
              <a:ext uri="{FF2B5EF4-FFF2-40B4-BE49-F238E27FC236}">
                <a16:creationId xmlns:a16="http://schemas.microsoft.com/office/drawing/2014/main" id="{74DBF4B8-F246-4B01-BF8E-5C535331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95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rPr>
              <a:t>색상 옵션 추출 및 팔레트 매핑</a:t>
            </a:r>
          </a:p>
        </p:txBody>
      </p:sp>
      <p:sp>
        <p:nvSpPr>
          <p:cNvPr id="38" name="bullet-dot-434">
            <a:extLst xmlns:a="http://schemas.openxmlformats.org/drawingml/2006/main">
              <a:ext uri="{FF2B5EF4-FFF2-40B4-BE49-F238E27FC236}">
                <a16:creationId xmlns:a16="http://schemas.microsoft.com/office/drawing/2014/main" id="{0BA00CD0-DEEB-4203-ACBB-CCF1D86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00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ullet-text-434">
            <a:extLst xmlns:a="http://schemas.openxmlformats.org/drawingml/2006/main">
              <a:ext uri="{FF2B5EF4-FFF2-40B4-BE49-F238E27FC236}">
                <a16:creationId xmlns:a16="http://schemas.microsoft.com/office/drawing/2014/main" id="{BFF50FCB-D070-4256-8639-410FF27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33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rPr>
              <a:t>사용자 퍼컬과 제품 색상 비교</a:t>
            </a:r>
          </a:p>
        </p:txBody>
      </p:sp>
      <p:sp>
        <p:nvSpPr>
          <p:cNvPr id="40" name="stage-bg-2">
            <a:extLst xmlns:a="http://schemas.openxmlformats.org/drawingml/2006/main">
              <a:ext uri="{FF2B5EF4-FFF2-40B4-BE49-F238E27FC236}">
                <a16:creationId xmlns:a16="http://schemas.microsoft.com/office/drawing/2014/main" id="{82EEF300-3FA8-4AC9-AB05-D2BB44F9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52650"/>
            <a:ext cx="321945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0F8F5"/>
          </a:solidFill>
          <a:ln xmlns:a="http://schemas.openxmlformats.org/drawingml/2006/main" w="11430">
            <a:solidFill>
              <a:srgbClr val="A8C9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stage-accent-2">
            <a:extLst xmlns:a="http://schemas.openxmlformats.org/drawingml/2006/main">
              <a:ext uri="{FF2B5EF4-FFF2-40B4-BE49-F238E27FC236}">
                <a16:creationId xmlns:a16="http://schemas.microsoft.com/office/drawing/2014/main" id="{8B894105-5EC4-4A28-AE3D-93930E09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5265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65"/>
          </a:solidFill>
          <a:ln xmlns:a="http://schemas.openxmlformats.org/drawingml/2006/main" w="0">
            <a:solidFill>
              <a:srgbClr val="2E7265"/>
            </a:solidFill>
            <a:prstDash val="solid"/>
          </a:ln>
        </p:spPr>
      </p:sp>
      <p:sp>
        <p:nvSpPr>
          <p:cNvPr id="42" name="stage-number-circle-2">
            <a:extLst xmlns:a="http://schemas.openxmlformats.org/drawingml/2006/main">
              <a:ext uri="{FF2B5EF4-FFF2-40B4-BE49-F238E27FC236}">
                <a16:creationId xmlns:a16="http://schemas.microsoft.com/office/drawing/2014/main" id="{5F2AD5E5-C69F-4025-902A-7C617E8E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FE8A4306-52A1-4C00-9C8A-5668050B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0B85ECB2-9EC4-4FE9-905B-7E1820BC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1211"/>
                </a:solidFill>
                <a:latin typeface="Apple SD Gothic Neo"/>
                <a:ea typeface="Apple SD Gothic Neo"/>
                <a:cs typeface="Apple SD Gothic Neo"/>
              </a:rPr>
              <a:t>추천시스템 AI</a:t>
            </a:r>
          </a:p>
        </p:txBody>
      </p:sp>
      <p:sp>
        <p:nvSpPr>
          <p:cNvPr id="45" name="stage-role-pill-2">
            <a:extLst xmlns:a="http://schemas.openxmlformats.org/drawingml/2006/main">
              <a:ext uri="{FF2B5EF4-FFF2-40B4-BE49-F238E27FC236}">
                <a16:creationId xmlns:a16="http://schemas.microsoft.com/office/drawing/2014/main" id="{FEF0B3DF-1369-4EA8-B7EF-BBAEA11A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52725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9C0"/>
            </a:solidFill>
            <a:prstDash val="solid"/>
          </a:ln>
        </p:spPr>
      </p:sp>
      <p:sp>
        <p:nvSpPr>
          <p:cNvPr id="46" name="stage-role-2">
            <a:extLst xmlns:a="http://schemas.openxmlformats.org/drawingml/2006/main">
              <a:ext uri="{FF2B5EF4-FFF2-40B4-BE49-F238E27FC236}">
                <a16:creationId xmlns:a16="http://schemas.microsoft.com/office/drawing/2014/main" id="{FEA201FA-390D-4313-B73E-E8110166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38" b="1">
                <a:solidFill>
                  <a:srgbClr val="2459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4594F"/>
                </a:solidFill>
                <a:latin typeface="Apple SD Gothic Neo"/>
                <a:ea typeface="Apple SD Gothic Neo"/>
                <a:cs typeface="Apple SD Gothic Neo"/>
              </a:rPr>
              <a:t>개인화 추천</a:t>
            </a:r>
          </a:p>
        </p:txBody>
      </p:sp>
      <p:sp>
        <p:nvSpPr>
          <p:cNvPr id="47" name="stage-feature-label-2">
            <a:extLst xmlns:a="http://schemas.openxmlformats.org/drawingml/2006/main">
              <a:ext uri="{FF2B5EF4-FFF2-40B4-BE49-F238E27FC236}">
                <a16:creationId xmlns:a16="http://schemas.microsoft.com/office/drawing/2014/main" id="{73CB9F6F-28E4-4750-9831-9A72EDF7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99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 b="1">
                <a:solidFill>
                  <a:srgbClr val="2459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4594F"/>
                </a:solidFill>
                <a:latin typeface="Apple SD Gothic Neo"/>
                <a:ea typeface="Apple SD Gothic Neo"/>
                <a:cs typeface="Apple SD Gothic Neo"/>
              </a:rPr>
              <a:t>핵심 기능</a:t>
            </a:r>
          </a:p>
        </p:txBody>
      </p:sp>
      <p:sp>
        <p:nvSpPr>
          <p:cNvPr id="48" name="bullet-dot-368">
            <a:extLst xmlns:a="http://schemas.openxmlformats.org/drawingml/2006/main">
              <a:ext uri="{FF2B5EF4-FFF2-40B4-BE49-F238E27FC236}">
                <a16:creationId xmlns:a16="http://schemas.microsoft.com/office/drawing/2014/main" id="{69850B05-D996-489D-A4D3-5748F7BA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ullet-text-368">
            <a:extLst xmlns:a="http://schemas.openxmlformats.org/drawingml/2006/main">
              <a:ext uri="{FF2B5EF4-FFF2-40B4-BE49-F238E27FC236}">
                <a16:creationId xmlns:a16="http://schemas.microsoft.com/office/drawing/2014/main" id="{10AD4D13-00F3-4F96-83D6-5C1727ED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rPr>
              <a:t>퍼스널 컬러 적합도 점수화</a:t>
            </a:r>
          </a:p>
        </p:txBody>
      </p:sp>
      <p:sp>
        <p:nvSpPr>
          <p:cNvPr id="50" name="bullet-dot-401">
            <a:extLst xmlns:a="http://schemas.openxmlformats.org/drawingml/2006/main">
              <a:ext uri="{FF2B5EF4-FFF2-40B4-BE49-F238E27FC236}">
                <a16:creationId xmlns:a16="http://schemas.microsoft.com/office/drawing/2014/main" id="{7BE67CED-D336-4CE8-A9D4-96A8645F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ullet-text-401">
            <a:extLst xmlns:a="http://schemas.openxmlformats.org/drawingml/2006/main">
              <a:ext uri="{FF2B5EF4-FFF2-40B4-BE49-F238E27FC236}">
                <a16:creationId xmlns:a16="http://schemas.microsoft.com/office/drawing/2014/main" id="{48C6A299-AEC9-4BA5-AECB-FB68FD05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rPr>
              <a:t>상품 순위화 및 추천 우선순위 반영</a:t>
            </a:r>
          </a:p>
        </p:txBody>
      </p:sp>
      <p:sp>
        <p:nvSpPr>
          <p:cNvPr id="52" name="bullet-dot-434">
            <a:extLst xmlns:a="http://schemas.openxmlformats.org/drawingml/2006/main">
              <a:ext uri="{FF2B5EF4-FFF2-40B4-BE49-F238E27FC236}">
                <a16:creationId xmlns:a16="http://schemas.microsoft.com/office/drawing/2014/main" id="{F00F4E44-4FE7-4B57-B5E7-A6C73DBF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00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ullet-text-434">
            <a:extLst xmlns:a="http://schemas.openxmlformats.org/drawingml/2006/main">
              <a:ext uri="{FF2B5EF4-FFF2-40B4-BE49-F238E27FC236}">
                <a16:creationId xmlns:a16="http://schemas.microsoft.com/office/drawing/2014/main" id="{877F0812-6E4B-4E31-9474-9F2F12C8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33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302927"/>
                </a:solidFill>
                <a:latin typeface="Apple SD Gothic Neo"/>
                <a:ea typeface="Apple SD Gothic Neo"/>
                <a:cs typeface="Apple SD Gothic Neo"/>
              </a:rPr>
              <a:t>찜·후기 기반 하이브리드 추천 확장</a:t>
            </a:r>
          </a:p>
        </p:txBody>
      </p:sp>
      <p:sp>
        <p:nvSpPr>
          <p:cNvPr id="5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734B42F2-7139-478E-93EE-F2EBF710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33725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2522"/>
          </a:solidFill>
          <a:ln xmlns:a="http://schemas.openxmlformats.org/drawingml/2006/main" w="0">
            <a:solidFill>
              <a:srgbClr val="2C2522"/>
            </a:solidFill>
            <a:prstDash val="solid"/>
          </a:ln>
        </p:spPr>
      </p:sp>
      <p:sp>
        <p:nvSpPr>
          <p:cNvPr id="5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0FD734BE-9786-4508-A7C6-FBDFCD44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33725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2522"/>
          </a:solidFill>
          <a:ln xmlns:a="http://schemas.openxmlformats.org/drawingml/2006/main" w="0">
            <a:solidFill>
              <a:srgbClr val="2C2522"/>
            </a:solidFill>
            <a:prstDash val="solid"/>
          </a:ln>
        </p:spPr>
      </p:sp>
      <p:sp>
        <p:nvSpPr>
          <p:cNvPr id="56" name="quote-box">
            <a:extLst xmlns:a="http://schemas.openxmlformats.org/drawingml/2006/main">
              <a:ext uri="{FF2B5EF4-FFF2-40B4-BE49-F238E27FC236}">
                <a16:creationId xmlns:a16="http://schemas.microsoft.com/office/drawing/2014/main" id="{A7174C11-6039-4B92-9925-06DB61C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68961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quote-label">
            <a:extLst xmlns:a="http://schemas.openxmlformats.org/drawingml/2006/main">
              <a:ext uri="{FF2B5EF4-FFF2-40B4-BE49-F238E27FC236}">
                <a16:creationId xmlns:a16="http://schemas.microsoft.com/office/drawing/2014/main" id="{739B201B-FF8A-4519-89BE-B7BC8AE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 b="1">
                <a:solidFill>
                  <a:srgbClr val="08A8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8A8B1"/>
                </a:solidFill>
                <a:latin typeface="Apple SD Gothic Neo"/>
                <a:ea typeface="Apple SD Gothic Neo"/>
                <a:cs typeface="Apple SD Gothic Neo"/>
              </a:rPr>
              <a:t>발표용 안전 문장</a:t>
            </a:r>
          </a:p>
        </p:txBody>
      </p:sp>
      <p:sp>
        <p:nvSpPr>
          <p:cNvPr id="58" name="quote-copy">
            <a:extLst xmlns:a="http://schemas.openxmlformats.org/drawingml/2006/main">
              <a:ext uri="{FF2B5EF4-FFF2-40B4-BE49-F238E27FC236}">
                <a16:creationId xmlns:a16="http://schemas.microsoft.com/office/drawing/2014/main" id="{C85E9653-C7C7-44F2-9E1E-70343269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614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 b="1">
                <a:solidFill>
                  <a:srgbClr val="1D17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D1715"/>
                </a:solidFill>
                <a:latin typeface="Apple SD Gothic Neo"/>
                <a:ea typeface="Apple SD Gothic Neo"/>
                <a:cs typeface="Apple SD Gothic Neo"/>
              </a:rPr>
              <a:t>“AI는 퍼스널 컬러 진단을 보조하고,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 b="1">
                <a:solidFill>
                  <a:srgbClr val="1D17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D1715"/>
                </a:solidFill>
                <a:latin typeface="Apple SD Gothic Neo"/>
                <a:ea typeface="Apple SD Gothic Neo"/>
                <a:cs typeface="Apple SD Gothic Neo"/>
              </a:rPr>
              <a:t>백엔드 검증과 고정 팔레트 매핑으로 결과 안정성을 높입니다.”</a:t>
            </a:r>
          </a:p>
        </p:txBody>
      </p:sp>
      <p:sp>
        <p:nvSpPr>
          <p:cNvPr id="59" name="quote-subcopy">
            <a:extLst xmlns:a="http://schemas.openxmlformats.org/drawingml/2006/main">
              <a:ext uri="{FF2B5EF4-FFF2-40B4-BE49-F238E27FC236}">
                <a16:creationId xmlns:a16="http://schemas.microsoft.com/office/drawing/2014/main" id="{4A3A5863-255F-4883-835C-36983574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5A504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5A504C"/>
                </a:solidFill>
                <a:latin typeface="Apple SD Gothic Neo"/>
                <a:ea typeface="Apple SD Gothic Neo"/>
                <a:cs typeface="Apple SD Gothic Neo"/>
              </a:rPr>
              <a:t>URL 기반 옵션 분석에서 시작해, 행동 데이터 기반 하이브리드 추천으로 확장합니다.</a:t>
            </a:r>
          </a:p>
        </p:txBody>
      </p:sp>
      <p:sp>
        <p:nvSpPr>
          <p:cNvPr id="60" name="insight-panel">
            <a:extLst xmlns:a="http://schemas.openxmlformats.org/drawingml/2006/main">
              <a:ext uri="{FF2B5EF4-FFF2-40B4-BE49-F238E27FC236}">
                <a16:creationId xmlns:a16="http://schemas.microsoft.com/office/drawing/2014/main" id="{2BC98569-F6A3-4512-AE72-74446BBB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2500"/>
            <a:ext cx="37338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151211"/>
          </a:solidFill>
          <a:ln xmlns:a="http://schemas.openxmlformats.org/drawingml/2006/main" w="0">
            <a:solidFill>
              <a:srgbClr val="1512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1" name="insight-title">
            <a:extLst xmlns:a="http://schemas.openxmlformats.org/drawingml/2006/main">
              <a:ext uri="{FF2B5EF4-FFF2-40B4-BE49-F238E27FC236}">
                <a16:creationId xmlns:a16="http://schemas.microsoft.com/office/drawing/2014/main" id="{E2304271-363A-473D-A6CF-9E1D16A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1">
                <a:solidFill>
                  <a:srgbClr val="F6D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6DFD7"/>
                </a:solidFill>
                <a:latin typeface="Apple SD Gothic Neo"/>
                <a:ea typeface="Apple SD Gothic Neo"/>
                <a:cs typeface="Apple SD Gothic Neo"/>
              </a:rPr>
              <a:t>핵심 메시지</a:t>
            </a:r>
          </a:p>
        </p:txBody>
      </p:sp>
      <p:sp>
        <p:nvSpPr>
          <p:cNvPr id="62" name="insight-copy">
            <a:extLst xmlns:a="http://schemas.openxmlformats.org/drawingml/2006/main">
              <a:ext uri="{FF2B5EF4-FFF2-40B4-BE49-F238E27FC236}">
                <a16:creationId xmlns:a16="http://schemas.microsoft.com/office/drawing/2014/main" id="{705670CE-1CE8-4BC1-BBFF-BA014776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149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FFFA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FFFAF4"/>
                </a:solidFill>
                <a:latin typeface="Apple SD Gothic Neo"/>
                <a:ea typeface="Apple SD Gothic Neo"/>
                <a:cs typeface="Apple SD Gothic Neo"/>
              </a:rPr>
              <a:t>진단·상품 색상 비교로 안정성을 확보하고,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FFFA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FFFAF4"/>
                </a:solidFill>
                <a:latin typeface="Apple SD Gothic Neo"/>
                <a:ea typeface="Apple SD Gothic Neo"/>
                <a:cs typeface="Apple SD Gothic Neo"/>
              </a:rPr>
              <a:t>행동 데이터로 추천 정밀도를 높입니다.</a:t>
            </a:r>
          </a:p>
        </p:txBody>
      </p:sp>
      <p:sp>
        <p:nvSpPr>
          <p:cNvPr id="63" name="insight-keyword-band">
            <a:extLst xmlns:a="http://schemas.openxmlformats.org/drawingml/2006/main">
              <a:ext uri="{FF2B5EF4-FFF2-40B4-BE49-F238E27FC236}">
                <a16:creationId xmlns:a16="http://schemas.microsoft.com/office/drawing/2014/main" id="{DFED179E-15E8-42AD-9A7A-652F582D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886450"/>
            <a:ext cx="3028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3D38"/>
          </a:solidFill>
          <a:ln xmlns:a="http://schemas.openxmlformats.org/drawingml/2006/main" w="0">
            <a:solidFill>
              <a:srgbClr val="233D38"/>
            </a:solidFill>
            <a:prstDash val="solid"/>
          </a:ln>
        </p:spPr>
      </p:sp>
      <p:sp>
        <p:nvSpPr>
          <p:cNvPr id="64" name="insight-note">
            <a:extLst xmlns:a="http://schemas.openxmlformats.org/drawingml/2006/main">
              <a:ext uri="{FF2B5EF4-FFF2-40B4-BE49-F238E27FC236}">
                <a16:creationId xmlns:a16="http://schemas.microsoft.com/office/drawing/2014/main" id="{E7984F5B-F651-4832-A69B-FDCE1170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436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EDFE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EDFE4"/>
                </a:solidFill>
                <a:latin typeface="Apple SD Gothic Neo"/>
                <a:ea typeface="Apple SD Gothic Neo"/>
                <a:cs typeface="Apple SD Gothic Neo"/>
              </a:rPr>
              <a:t>진단 보조 · 색상 매핑 · 개인화 추천</a:t>
            </a:r>
          </a:p>
        </p:txBody>
      </p:sp>
    </p:spTree>
    <p:extLst>
      <p:ext uri="{BB962C8B-B14F-4D97-AF65-F5344CB8AC3E}">
        <p14:creationId xmlns:p14="http://schemas.microsoft.com/office/powerpoint/2010/main" val="942172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2026-06-22T17:11:04.5610000Z</dcterms:created>
  <dcterms:modified xsi:type="dcterms:W3CDTF">2026-06-22T17:11:04.5610000Z</dcterms:modified>
</coreProperties>
</file>